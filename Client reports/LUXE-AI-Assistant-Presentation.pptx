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3" d="100"/>
          <a:sy n="113" d="100"/>
        </p:scale>
        <p:origin x="540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dots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015" y="-640080"/>
            <a:ext cx="4937760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201168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7A726A"/>
                </a:solidFill>
                <a:latin typeface="Segoe UI Semibold"/>
              </a:rPr>
              <a:t>LUXE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96012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>
                <a:solidFill>
                  <a:srgbClr val="26221E"/>
                </a:solidFill>
                <a:latin typeface="Segoe UI Semibold"/>
              </a:rPr>
              <a:t>An AI Shopping Assistant
for Your Store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206240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 dirty="0">
                <a:solidFill>
                  <a:srgbClr val="4A443E"/>
                </a:solidFill>
                <a:latin typeface="Segoe UI"/>
              </a:rPr>
              <a:t>Customers ask in plain English. Your catalog answers.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5216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7A726A"/>
                </a:solidFill>
                <a:latin typeface="Segoe UI Semibold"/>
              </a:rPr>
              <a:t>Forward-Deployed Engineering   ·   Proposal &amp; Delivery Plan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374904"/>
            <a:ext cx="12191695" cy="730910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77240" y="1709927"/>
            <a:ext cx="365760" cy="389819"/>
          </a:xfrm>
          <a:prstGeom prst="roundRect">
            <a:avLst>
              <a:gd name="adj" fmla="val 50000"/>
            </a:avLst>
          </a:prstGeom>
          <a:solidFill>
            <a:srgbClr val="F7F5F2"/>
          </a:solidFill>
          <a:ln w="17780">
            <a:solidFill>
              <a:srgbClr val="B354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709928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1">
                <a:solidFill>
                  <a:srgbClr val="B3542E"/>
                </a:solidFill>
                <a:latin typeface="Segoe UI Semibold"/>
              </a:rPr>
              <a:t>1</a:t>
            </a:r>
          </a:p>
        </p:txBody>
      </p:sp>
      <p:cxnSp>
        <p:nvCxnSpPr>
          <p:cNvPr id="6" name="Connector 5"/>
          <p:cNvCxnSpPr>
            <a:cxnSpLocks/>
          </p:cNvCxnSpPr>
          <p:nvPr/>
        </p:nvCxnSpPr>
        <p:spPr>
          <a:xfrm>
            <a:off x="1344168" y="1892808"/>
            <a:ext cx="1124712" cy="0"/>
          </a:xfrm>
          <a:prstGeom prst="line">
            <a:avLst/>
          </a:prstGeom>
          <a:ln w="12700">
            <a:solidFill>
              <a:srgbClr val="E0D9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697480" y="1591056"/>
            <a:ext cx="5486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1" dirty="0">
                <a:solidFill>
                  <a:srgbClr val="26221E"/>
                </a:solidFill>
                <a:latin typeface="Segoe UI Semibold"/>
              </a:rP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591056"/>
            <a:ext cx="36576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7A726A"/>
                </a:solidFill>
                <a:latin typeface="Segoe UI"/>
              </a:rPr>
              <a:t>why customers want this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386583"/>
            <a:ext cx="365760" cy="389819"/>
          </a:xfrm>
          <a:prstGeom prst="roundRect">
            <a:avLst>
              <a:gd name="adj" fmla="val 50000"/>
            </a:avLst>
          </a:prstGeom>
          <a:solidFill>
            <a:srgbClr val="F7F5F2"/>
          </a:solidFill>
          <a:ln w="17780">
            <a:solidFill>
              <a:srgbClr val="B354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386584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1">
                <a:solidFill>
                  <a:srgbClr val="B3542E"/>
                </a:solidFill>
                <a:latin typeface="Segoe UI Semibold"/>
              </a:rPr>
              <a:t>2</a:t>
            </a:r>
          </a:p>
        </p:txBody>
      </p:sp>
      <p:cxnSp>
        <p:nvCxnSpPr>
          <p:cNvPr id="11" name="Connector 10"/>
          <p:cNvCxnSpPr>
            <a:cxnSpLocks/>
          </p:cNvCxnSpPr>
          <p:nvPr/>
        </p:nvCxnSpPr>
        <p:spPr>
          <a:xfrm>
            <a:off x="1344168" y="2569464"/>
            <a:ext cx="1124712" cy="0"/>
          </a:xfrm>
          <a:prstGeom prst="line">
            <a:avLst/>
          </a:prstGeom>
          <a:ln w="12700">
            <a:solidFill>
              <a:srgbClr val="E0D9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697480" y="2267712"/>
            <a:ext cx="5486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1">
                <a:solidFill>
                  <a:srgbClr val="26221E"/>
                </a:solidFill>
                <a:latin typeface="Segoe UI Semibold"/>
              </a:rPr>
              <a:t>What we'll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2267712"/>
            <a:ext cx="36576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7A726A"/>
                </a:solidFill>
                <a:latin typeface="Segoe UI"/>
              </a:rPr>
              <a:t>a chat box on every page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063239"/>
            <a:ext cx="365760" cy="389819"/>
          </a:xfrm>
          <a:prstGeom prst="roundRect">
            <a:avLst>
              <a:gd name="adj" fmla="val 50000"/>
            </a:avLst>
          </a:prstGeom>
          <a:solidFill>
            <a:srgbClr val="F7F5F2"/>
          </a:solidFill>
          <a:ln w="17780">
            <a:solidFill>
              <a:srgbClr val="B354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306324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1">
                <a:solidFill>
                  <a:srgbClr val="B3542E"/>
                </a:solidFill>
                <a:latin typeface="Segoe UI Semibold"/>
              </a:rPr>
              <a:t>3</a:t>
            </a:r>
          </a:p>
        </p:txBody>
      </p:sp>
      <p:cxnSp>
        <p:nvCxnSpPr>
          <p:cNvPr id="16" name="Connector 15"/>
          <p:cNvCxnSpPr>
            <a:cxnSpLocks/>
          </p:cNvCxnSpPr>
          <p:nvPr/>
        </p:nvCxnSpPr>
        <p:spPr>
          <a:xfrm>
            <a:off x="1344168" y="3246120"/>
            <a:ext cx="1124712" cy="0"/>
          </a:xfrm>
          <a:prstGeom prst="line">
            <a:avLst/>
          </a:prstGeom>
          <a:ln w="12700">
            <a:solidFill>
              <a:srgbClr val="E0D9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697480" y="2944368"/>
            <a:ext cx="5486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1">
                <a:solidFill>
                  <a:srgbClr val="26221E"/>
                </a:solidFill>
                <a:latin typeface="Segoe UI Semibold"/>
              </a:rPr>
              <a:t>How it works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944368"/>
            <a:ext cx="36576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7A726A"/>
                </a:solidFill>
                <a:latin typeface="Segoe UI"/>
              </a:rPr>
              <a:t>four steps, every message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739895"/>
            <a:ext cx="365760" cy="389819"/>
          </a:xfrm>
          <a:prstGeom prst="roundRect">
            <a:avLst>
              <a:gd name="adj" fmla="val 50000"/>
            </a:avLst>
          </a:prstGeom>
          <a:solidFill>
            <a:srgbClr val="F7F5F2"/>
          </a:solidFill>
          <a:ln w="17780">
            <a:solidFill>
              <a:srgbClr val="B354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3739896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1">
                <a:solidFill>
                  <a:srgbClr val="B3542E"/>
                </a:solidFill>
                <a:latin typeface="Segoe UI Semibold"/>
              </a:rPr>
              <a:t>4</a:t>
            </a:r>
          </a:p>
        </p:txBody>
      </p:sp>
      <p:cxnSp>
        <p:nvCxnSpPr>
          <p:cNvPr id="21" name="Connector 20"/>
          <p:cNvCxnSpPr>
            <a:cxnSpLocks/>
          </p:cNvCxnSpPr>
          <p:nvPr/>
        </p:nvCxnSpPr>
        <p:spPr>
          <a:xfrm>
            <a:off x="1344168" y="3922776"/>
            <a:ext cx="1124712" cy="0"/>
          </a:xfrm>
          <a:prstGeom prst="line">
            <a:avLst/>
          </a:prstGeom>
          <a:ln w="12700">
            <a:solidFill>
              <a:srgbClr val="E0D9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697480" y="3621024"/>
            <a:ext cx="5486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1">
                <a:solidFill>
                  <a:srgbClr val="26221E"/>
                </a:solidFill>
                <a:latin typeface="Segoe UI Semibold"/>
              </a:rPr>
              <a:t>How we'll deliver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3621024"/>
            <a:ext cx="36576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7A726A"/>
                </a:solidFill>
                <a:latin typeface="Segoe UI"/>
              </a:rPr>
              <a:t>working software at every stage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416551"/>
            <a:ext cx="365760" cy="389819"/>
          </a:xfrm>
          <a:prstGeom prst="roundRect">
            <a:avLst>
              <a:gd name="adj" fmla="val 50000"/>
            </a:avLst>
          </a:prstGeom>
          <a:solidFill>
            <a:srgbClr val="F7F5F2"/>
          </a:solidFill>
          <a:ln w="17780">
            <a:solidFill>
              <a:srgbClr val="B354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4416552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1">
                <a:solidFill>
                  <a:srgbClr val="B3542E"/>
                </a:solidFill>
                <a:latin typeface="Segoe UI Semibold"/>
              </a:rPr>
              <a:t>5</a:t>
            </a:r>
          </a:p>
        </p:txBody>
      </p:sp>
      <p:cxnSp>
        <p:nvCxnSpPr>
          <p:cNvPr id="26" name="Connector 25"/>
          <p:cNvCxnSpPr>
            <a:cxnSpLocks/>
          </p:cNvCxnSpPr>
          <p:nvPr/>
        </p:nvCxnSpPr>
        <p:spPr>
          <a:xfrm>
            <a:off x="1344168" y="4599432"/>
            <a:ext cx="1124712" cy="0"/>
          </a:xfrm>
          <a:prstGeom prst="line">
            <a:avLst/>
          </a:prstGeom>
          <a:ln w="12700">
            <a:solidFill>
              <a:srgbClr val="E0D9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697480" y="4297680"/>
            <a:ext cx="5486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1">
                <a:solidFill>
                  <a:srgbClr val="26221E"/>
                </a:solidFill>
                <a:latin typeface="Segoe UI Semibold"/>
              </a:rPr>
              <a:t>Safe &amp; reliable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4297680"/>
            <a:ext cx="36576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7A726A"/>
                </a:solidFill>
                <a:latin typeface="Segoe UI"/>
              </a:rPr>
              <a:t>what keeps it trustworthy and up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5093207"/>
            <a:ext cx="365760" cy="389819"/>
          </a:xfrm>
          <a:prstGeom prst="roundRect">
            <a:avLst>
              <a:gd name="adj" fmla="val 50000"/>
            </a:avLst>
          </a:prstGeom>
          <a:solidFill>
            <a:srgbClr val="F7F5F2"/>
          </a:solidFill>
          <a:ln w="17780">
            <a:solidFill>
              <a:srgbClr val="B354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77240" y="5093208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1">
                <a:solidFill>
                  <a:srgbClr val="B3542E"/>
                </a:solidFill>
                <a:latin typeface="Segoe UI Semibold"/>
              </a:rPr>
              <a:t>6</a:t>
            </a:r>
          </a:p>
        </p:txBody>
      </p:sp>
      <p:cxnSp>
        <p:nvCxnSpPr>
          <p:cNvPr id="31" name="Connector 30"/>
          <p:cNvCxnSpPr>
            <a:cxnSpLocks/>
          </p:cNvCxnSpPr>
          <p:nvPr/>
        </p:nvCxnSpPr>
        <p:spPr>
          <a:xfrm>
            <a:off x="1344168" y="5276088"/>
            <a:ext cx="1124712" cy="0"/>
          </a:xfrm>
          <a:prstGeom prst="line">
            <a:avLst/>
          </a:prstGeom>
          <a:ln w="12700">
            <a:solidFill>
              <a:srgbClr val="E0D9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2697480" y="4974336"/>
            <a:ext cx="5486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1">
                <a:solidFill>
                  <a:srgbClr val="26221E"/>
                </a:solidFill>
                <a:latin typeface="Segoe UI Semibold"/>
              </a:rPr>
              <a:t>What it costs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4974336"/>
            <a:ext cx="36576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7A726A"/>
                </a:solidFill>
                <a:latin typeface="Segoe UI"/>
              </a:rPr>
              <a:t>a realistic monthly bill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5769863"/>
            <a:ext cx="365760" cy="389819"/>
          </a:xfrm>
          <a:prstGeom prst="roundRect">
            <a:avLst>
              <a:gd name="adj" fmla="val 50000"/>
            </a:avLst>
          </a:prstGeom>
          <a:solidFill>
            <a:srgbClr val="F7F5F2"/>
          </a:solidFill>
          <a:ln w="17780">
            <a:solidFill>
              <a:srgbClr val="B354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77240" y="5769864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1">
                <a:solidFill>
                  <a:srgbClr val="B3542E"/>
                </a:solidFill>
                <a:latin typeface="Segoe UI Semibold"/>
              </a:rPr>
              <a:t>7</a:t>
            </a:r>
          </a:p>
        </p:txBody>
      </p:sp>
      <p:cxnSp>
        <p:nvCxnSpPr>
          <p:cNvPr id="36" name="Connector 35"/>
          <p:cNvCxnSpPr>
            <a:cxnSpLocks/>
          </p:cNvCxnSpPr>
          <p:nvPr/>
        </p:nvCxnSpPr>
        <p:spPr>
          <a:xfrm>
            <a:off x="1344168" y="5952744"/>
            <a:ext cx="1124712" cy="0"/>
          </a:xfrm>
          <a:prstGeom prst="line">
            <a:avLst/>
          </a:prstGeom>
          <a:ln w="12700">
            <a:solidFill>
              <a:srgbClr val="E0D9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2697480" y="5650992"/>
            <a:ext cx="5486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1">
                <a:solidFill>
                  <a:srgbClr val="26221E"/>
                </a:solidFill>
                <a:latin typeface="Segoe UI Semibold"/>
              </a:rPr>
              <a:t>The plan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5650992"/>
            <a:ext cx="36576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7A726A"/>
                </a:solidFill>
                <a:latin typeface="Segoe UI"/>
              </a:rPr>
              <a:t>about six weeks to live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BF49E17-1F17-47AC-9050-A6CE3888B808}"/>
              </a:ext>
            </a:extLst>
          </p:cNvPr>
          <p:cNvSpPr txBox="1"/>
          <p:nvPr/>
        </p:nvSpPr>
        <p:spPr>
          <a:xfrm>
            <a:off x="777240" y="634860"/>
            <a:ext cx="10607040" cy="5407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3600" b="1" dirty="0">
                <a:solidFill>
                  <a:srgbClr val="26221E"/>
                </a:solidFill>
                <a:latin typeface="Segoe UI Semibold"/>
              </a:rPr>
              <a:t>Agenda</a:t>
            </a:r>
            <a:endParaRPr sz="3600" b="1" dirty="0">
              <a:solidFill>
                <a:srgbClr val="26221E"/>
              </a:solidFill>
              <a:latin typeface="Segoe UI Semibol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B3542E"/>
                </a:solidFill>
                <a:latin typeface="Segoe UI Semibold"/>
              </a:rPr>
              <a:t>THE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26221E"/>
                </a:solidFill>
                <a:latin typeface="Segoe UI Semibold"/>
              </a:rPr>
              <a:t>Finding a product is still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9144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4A443E"/>
                </a:solidFill>
                <a:latin typeface="Segoe UI"/>
              </a:rPr>
              <a:t>Pick a category. Drag a price slider. Scroll. Repeat. Many shoppers give up before they buy.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566160"/>
            <a:ext cx="516636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3886200"/>
            <a:ext cx="4434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7A726A"/>
                </a:solidFill>
                <a:latin typeface="Segoe UI Semibold"/>
              </a:rPr>
              <a:t>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434840"/>
            <a:ext cx="44348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26221E"/>
                </a:solidFill>
                <a:latin typeface="Segoe UI"/>
              </a:rPr>
              <a:t>Category  →  Price filter  →  Scroll  →  Sort  →  Scroll again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3566160"/>
            <a:ext cx="5166360" cy="2103120"/>
          </a:xfrm>
          <a:prstGeom prst="roundRect">
            <a:avLst>
              <a:gd name="adj" fmla="val 6000"/>
            </a:avLst>
          </a:prstGeom>
          <a:solidFill>
            <a:srgbClr val="F0E2DB"/>
          </a:solidFill>
          <a:ln w="12700">
            <a:solidFill>
              <a:srgbClr val="B354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12280" y="3886200"/>
            <a:ext cx="4434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B3542E"/>
                </a:solidFill>
                <a:latin typeface="Segoe UI Semibold"/>
              </a:rPr>
              <a:t>WITH THE ASSISTANT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4434840"/>
            <a:ext cx="44348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26221E"/>
                </a:solidFill>
                <a:latin typeface="Segoe UI"/>
              </a:rPr>
              <a:t>“men's shirts under ₹2000”
→  the right products, instantly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B3542E"/>
                </a:solidFill>
                <a:latin typeface="Segoe UI Semibold"/>
              </a:rPr>
              <a:t>WHAT WE'LL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26221E"/>
                </a:solidFill>
                <a:latin typeface="Segoe UI Semibold"/>
              </a:rPr>
              <a:t>A chat box on every page.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5000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B35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34440" y="2286000"/>
            <a:ext cx="6309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26221E"/>
                </a:solidFill>
                <a:latin typeface="Segoe UI Semibold"/>
              </a:rPr>
              <a:t>Ask in your own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88336"/>
            <a:ext cx="6309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7A726A"/>
                </a:solidFill>
                <a:latin typeface="Segoe UI"/>
              </a:rPr>
              <a:t>No filters, no menus. Just type what you're looking for.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49300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B35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34440" y="3429000"/>
            <a:ext cx="6309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26221E"/>
                </a:solidFill>
                <a:latin typeface="Segoe UI Semibold"/>
              </a:rPr>
              <a:t>Real products from your catalog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831336"/>
            <a:ext cx="6309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7A726A"/>
                </a:solidFill>
                <a:latin typeface="Segoe UI"/>
              </a:rPr>
              <a:t>It only shows what's actually in stock — never made-up items.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63600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B35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34440" y="4572000"/>
            <a:ext cx="6309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26221E"/>
                </a:solidFill>
                <a:latin typeface="Segoe UI Semibold"/>
              </a:rPr>
              <a:t>Works everywhere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974336"/>
            <a:ext cx="6309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7A726A"/>
                </a:solidFill>
                <a:latin typeface="Segoe UI"/>
              </a:rPr>
              <a:t>Mobile and desktop. Nothing to install.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1783080"/>
            <a:ext cx="342900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275320" y="2103120"/>
            <a:ext cx="2880360" cy="502920"/>
          </a:xfrm>
          <a:prstGeom prst="roundRect">
            <a:avLst>
              <a:gd name="adj" fmla="val 32000"/>
            </a:avLst>
          </a:prstGeom>
          <a:solidFill>
            <a:srgbClr val="2622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03920" y="2103120"/>
            <a:ext cx="2697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FFFFFF"/>
                </a:solidFill>
                <a:latin typeface="Segoe UI"/>
              </a:rPr>
              <a:t>men's shirts under ₹2000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2880360"/>
            <a:ext cx="2880360" cy="804672"/>
          </a:xfrm>
          <a:prstGeom prst="roundRect">
            <a:avLst>
              <a:gd name="adj" fmla="val 6000"/>
            </a:avLst>
          </a:prstGeom>
          <a:solidFill>
            <a:srgbClr val="F7F5F2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412480" y="3008376"/>
            <a:ext cx="548640" cy="548640"/>
          </a:xfrm>
          <a:prstGeom prst="roundRect">
            <a:avLst>
              <a:gd name="adj" fmla="val 6000"/>
            </a:avLst>
          </a:prstGeom>
          <a:solidFill>
            <a:srgbClr val="F0E2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16568" y="3008376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>
                <a:solidFill>
                  <a:srgbClr val="26221E"/>
                </a:solidFill>
                <a:latin typeface="Segoe UI"/>
              </a:rPr>
              <a:t>Oxford Shirt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16568" y="3300984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7A726A"/>
                </a:solidFill>
                <a:latin typeface="Segoe UI"/>
              </a:rPr>
              <a:t>₹1,899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75320" y="3840480"/>
            <a:ext cx="2880360" cy="804672"/>
          </a:xfrm>
          <a:prstGeom prst="roundRect">
            <a:avLst>
              <a:gd name="adj" fmla="val 6000"/>
            </a:avLst>
          </a:prstGeom>
          <a:solidFill>
            <a:srgbClr val="F7F5F2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412480" y="3968496"/>
            <a:ext cx="548640" cy="548640"/>
          </a:xfrm>
          <a:prstGeom prst="roundRect">
            <a:avLst>
              <a:gd name="adj" fmla="val 6000"/>
            </a:avLst>
          </a:prstGeom>
          <a:solidFill>
            <a:srgbClr val="F0E2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16568" y="3968496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>
                <a:solidFill>
                  <a:srgbClr val="26221E"/>
                </a:solidFill>
                <a:latin typeface="Segoe UI"/>
              </a:rPr>
              <a:t>Linen Casual Shirt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16568" y="4261104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7A726A"/>
                </a:solidFill>
                <a:latin typeface="Segoe UI"/>
              </a:rPr>
              <a:t>₹1,499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75320" y="4800600"/>
            <a:ext cx="2880360" cy="804672"/>
          </a:xfrm>
          <a:prstGeom prst="roundRect">
            <a:avLst>
              <a:gd name="adj" fmla="val 6000"/>
            </a:avLst>
          </a:prstGeom>
          <a:solidFill>
            <a:srgbClr val="F7F5F2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8412480" y="4928616"/>
            <a:ext cx="548640" cy="548640"/>
          </a:xfrm>
          <a:prstGeom prst="roundRect">
            <a:avLst>
              <a:gd name="adj" fmla="val 6000"/>
            </a:avLst>
          </a:prstGeom>
          <a:solidFill>
            <a:srgbClr val="F0E2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16568" y="4928616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>
                <a:solidFill>
                  <a:srgbClr val="26221E"/>
                </a:solidFill>
                <a:latin typeface="Segoe UI"/>
              </a:rPr>
              <a:t>Cotton Half-Sleeve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16568" y="5221224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7A726A"/>
                </a:solidFill>
                <a:latin typeface="Segoe UI"/>
              </a:rPr>
              <a:t>₹1,199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B3542E"/>
                </a:solidFill>
                <a:latin typeface="Segoe UI Semibold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26221E"/>
                </a:solidFill>
                <a:latin typeface="Segoe UI Semibold"/>
              </a:rPr>
              <a:t>Four steps, every message.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514600"/>
            <a:ext cx="2316404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69848" y="2825496"/>
            <a:ext cx="173118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7A726A"/>
                </a:solidFill>
                <a:latin typeface="Segoe UI Semi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3355848"/>
            <a:ext cx="173118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26221E"/>
                </a:solidFill>
                <a:latin typeface="Segoe UI Semibold"/>
              </a:rPr>
              <a:t>Ask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3959352"/>
            <a:ext cx="1731188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A443E"/>
                </a:solidFill>
                <a:latin typeface="Segoe UI"/>
              </a:rPr>
              <a:t>The customer types what they want.</a:t>
            </a:r>
          </a:p>
        </p:txBody>
      </p:sp>
      <p:sp>
        <p:nvSpPr>
          <p:cNvPr id="9" name="Chevron 8"/>
          <p:cNvSpPr/>
          <p:nvPr/>
        </p:nvSpPr>
        <p:spPr>
          <a:xfrm>
            <a:off x="3185084" y="3726180"/>
            <a:ext cx="274320" cy="274320"/>
          </a:xfrm>
          <a:prstGeom prst="chevron">
            <a:avLst/>
          </a:prstGeom>
          <a:solidFill>
            <a:srgbClr val="B35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550844" y="2514600"/>
            <a:ext cx="2316404" cy="2697480"/>
          </a:xfrm>
          <a:prstGeom prst="roundRect">
            <a:avLst>
              <a:gd name="adj" fmla="val 6000"/>
            </a:avLst>
          </a:prstGeom>
          <a:solidFill>
            <a:srgbClr val="E4ECDB"/>
          </a:solidFill>
          <a:ln w="16510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43452" y="2825496"/>
            <a:ext cx="173118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7A726A"/>
                </a:solidFill>
                <a:latin typeface="Segoe UI Semi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3452" y="3355848"/>
            <a:ext cx="173118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26221E"/>
                </a:solidFill>
                <a:latin typeface="Segoe UI Semibold"/>
              </a:rPr>
              <a:t>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3452" y="3959352"/>
            <a:ext cx="1731188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A443E"/>
                </a:solidFill>
                <a:latin typeface="Segoe UI"/>
              </a:rPr>
              <a:t>We make sure the message is safe and about shopping.</a:t>
            </a:r>
          </a:p>
        </p:txBody>
      </p:sp>
      <p:sp>
        <p:nvSpPr>
          <p:cNvPr id="14" name="Chevron 13"/>
          <p:cNvSpPr/>
          <p:nvPr/>
        </p:nvSpPr>
        <p:spPr>
          <a:xfrm>
            <a:off x="5958688" y="3726180"/>
            <a:ext cx="274320" cy="274320"/>
          </a:xfrm>
          <a:prstGeom prst="chevron">
            <a:avLst/>
          </a:prstGeom>
          <a:solidFill>
            <a:srgbClr val="B35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324448" y="2514600"/>
            <a:ext cx="2316404" cy="2697480"/>
          </a:xfrm>
          <a:prstGeom prst="roundRect">
            <a:avLst>
              <a:gd name="adj" fmla="val 6000"/>
            </a:avLst>
          </a:prstGeom>
          <a:solidFill>
            <a:srgbClr val="F0E2DB"/>
          </a:solidFill>
          <a:ln w="16510">
            <a:solidFill>
              <a:srgbClr val="B354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17056" y="2825496"/>
            <a:ext cx="173118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7A726A"/>
                </a:solidFill>
                <a:latin typeface="Segoe UI Semi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7056" y="3355848"/>
            <a:ext cx="173118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26221E"/>
                </a:solidFill>
                <a:latin typeface="Segoe UI Semibold"/>
              </a:rPr>
              <a:t>Find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7056" y="3959352"/>
            <a:ext cx="1731188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A443E"/>
                </a:solidFill>
                <a:latin typeface="Segoe UI"/>
              </a:rPr>
              <a:t>The assistant looks up matching products in your catalog.</a:t>
            </a:r>
          </a:p>
        </p:txBody>
      </p:sp>
      <p:sp>
        <p:nvSpPr>
          <p:cNvPr id="19" name="Chevron 18"/>
          <p:cNvSpPr/>
          <p:nvPr/>
        </p:nvSpPr>
        <p:spPr>
          <a:xfrm>
            <a:off x="8732291" y="3726180"/>
            <a:ext cx="274320" cy="274320"/>
          </a:xfrm>
          <a:prstGeom prst="chevron">
            <a:avLst/>
          </a:prstGeom>
          <a:solidFill>
            <a:srgbClr val="B35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098051" y="2514600"/>
            <a:ext cx="2316404" cy="2697480"/>
          </a:xfrm>
          <a:prstGeom prst="roundRect">
            <a:avLst>
              <a:gd name="adj" fmla="val 6000"/>
            </a:avLst>
          </a:prstGeom>
          <a:solidFill>
            <a:srgbClr val="E4ECDB"/>
          </a:solidFill>
          <a:ln w="16510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390659" y="2825496"/>
            <a:ext cx="173118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7A726A"/>
                </a:solidFill>
                <a:latin typeface="Segoe UI Semibol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0659" y="3355848"/>
            <a:ext cx="173118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26221E"/>
                </a:solidFill>
                <a:latin typeface="Segoe UI Semibold"/>
              </a:rPr>
              <a:t>Check again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659" y="3959352"/>
            <a:ext cx="1731188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A443E"/>
                </a:solidFill>
                <a:latin typeface="Segoe UI"/>
              </a:rPr>
              <a:t>We review the answer before the customer sees 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19506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7A726A"/>
                </a:solidFill>
                <a:latin typeface="Segoe UI"/>
              </a:rPr>
              <a:t>Steps 2 and 4 are automatic safety checks. They add well under a second.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B3542E"/>
                </a:solidFill>
                <a:latin typeface="Segoe UI Semibold"/>
              </a:rPr>
              <a:t>HOW WE'LL DELIVER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26221E"/>
                </a:solidFill>
                <a:latin typeface="Segoe UI Semibold"/>
              </a:rPr>
              <a:t>You see working software at every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900" b="1">
                <a:solidFill>
                  <a:srgbClr val="7A726A"/>
                </a:solidFill>
                <a:latin typeface="Segoe UI Semibold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856231"/>
            <a:ext cx="2194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B3542E"/>
                </a:solidFill>
                <a:latin typeface="Segoe UI Semibold"/>
              </a:rPr>
              <a:t>SEE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1911095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7A726A"/>
                </a:solidFill>
                <a:latin typeface="Segoe UI"/>
              </a:rPr>
              <a:t>~1–2 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331719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A443E"/>
                </a:solidFill>
                <a:latin typeface="Segoe UI"/>
              </a:rPr>
              <a:t>We work inside your store — learning the catalog, the data and how everything runs. Hands-on, not from a document.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36391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900" b="1">
                <a:solidFill>
                  <a:srgbClr val="7A726A"/>
                </a:solidFill>
                <a:latin typeface="Segoe UI Semibold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118103"/>
            <a:ext cx="2194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B3542E"/>
                </a:solidFill>
                <a:latin typeface="Segoe UI Semibold"/>
              </a:rPr>
              <a:t>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3172967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7A726A"/>
                </a:solidFill>
                <a:latin typeface="Segoe UI"/>
              </a:rPr>
              <a:t>~1–2 weeks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593591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A443E"/>
                </a:solidFill>
                <a:latin typeface="Segoe UI"/>
              </a:rPr>
              <a:t>We build a small working demo on your real products. You try it. You decide whether it is worth continuing.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98263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900" b="1">
                <a:solidFill>
                  <a:srgbClr val="7A726A"/>
                </a:solidFill>
                <a:latin typeface="Segoe UI Semibol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4379975"/>
            <a:ext cx="2194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B3542E"/>
                </a:solidFill>
                <a:latin typeface="Segoe UI Semibold"/>
              </a:rPr>
              <a:t>SHIP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4434839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7A726A"/>
                </a:solidFill>
                <a:latin typeface="Segoe UI"/>
              </a:rPr>
              <a:t>~2 weeks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855463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A443E"/>
                </a:solidFill>
                <a:latin typeface="Segoe UI"/>
              </a:rPr>
              <a:t>We fold the assistant into your live store, add quality checks and go live — with the store untouched.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797295"/>
            <a:ext cx="10607040" cy="658368"/>
          </a:xfrm>
          <a:prstGeom prst="roundRect">
            <a:avLst>
              <a:gd name="adj" fmla="val 6000"/>
            </a:avLst>
          </a:prstGeom>
          <a:solidFill>
            <a:srgbClr val="F0E2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5797295"/>
            <a:ext cx="987552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26221E"/>
                </a:solidFill>
                <a:latin typeface="Segoe UI"/>
              </a:rPr>
              <a:t>Nothing is a black box. If the demo doesn't convince you, we stop there — no lock-in.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B3542E"/>
                </a:solidFill>
                <a:latin typeface="Segoe UI Semibold"/>
              </a:rPr>
              <a:t>SAFE &amp; RELIABLE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26221E"/>
                </a:solidFill>
                <a:latin typeface="Segoe UI Semibold"/>
              </a:rPr>
              <a:t>Built to be safe.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57400"/>
            <a:ext cx="603504" cy="603504"/>
          </a:xfrm>
          <a:prstGeom prst="roundRect">
            <a:avLst>
              <a:gd name="adj" fmla="val 16000"/>
            </a:avLst>
          </a:prstGeom>
          <a:solidFill>
            <a:srgbClr val="E4ECDB"/>
          </a:solidFill>
          <a:ln w="16510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057400"/>
            <a:ext cx="603504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1">
                <a:solidFill>
                  <a:srgbClr val="26221E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002536"/>
            <a:ext cx="96926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26221E"/>
                </a:solidFill>
                <a:latin typeface="Segoe UI Semibold"/>
              </a:rPr>
              <a:t>Two safety checks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423160"/>
            <a:ext cx="9692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A"/>
                </a:solidFill>
                <a:latin typeface="Segoe UI"/>
              </a:rPr>
              <a:t>One before the assistant reads a message, one before the customer sees the reply. Blocks abuse; keeps it on shopping.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227832"/>
            <a:ext cx="603504" cy="603504"/>
          </a:xfrm>
          <a:prstGeom prst="roundRect">
            <a:avLst>
              <a:gd name="adj" fmla="val 16000"/>
            </a:avLst>
          </a:prstGeom>
          <a:solidFill>
            <a:srgbClr val="F0E2DB"/>
          </a:solidFill>
          <a:ln w="16510">
            <a:solidFill>
              <a:srgbClr val="B354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3227832"/>
            <a:ext cx="603504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1">
                <a:solidFill>
                  <a:srgbClr val="26221E"/>
                </a:solidFill>
                <a:latin typeface="Segoe UI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3172968"/>
            <a:ext cx="96926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26221E"/>
                </a:solidFill>
                <a:latin typeface="Segoe UI Semibold"/>
              </a:rPr>
              <a:t>Read-only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593592"/>
            <a:ext cx="9692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A"/>
                </a:solidFill>
                <a:latin typeface="Segoe UI"/>
              </a:rPr>
              <a:t>The assistant can look at your catalog but can never change prices, remove products, or touch customer or order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398264"/>
            <a:ext cx="603504" cy="603504"/>
          </a:xfrm>
          <a:prstGeom prst="roundRect">
            <a:avLst>
              <a:gd name="adj" fmla="val 16000"/>
            </a:avLst>
          </a:prstGeom>
          <a:solidFill>
            <a:srgbClr val="E4ECDB"/>
          </a:solidFill>
          <a:ln w="16510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4398264"/>
            <a:ext cx="603504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1">
                <a:solidFill>
                  <a:srgbClr val="26221E"/>
                </a:solidFill>
                <a:latin typeface="Segoe UI Semibol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4343400"/>
            <a:ext cx="96926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26221E"/>
                </a:solidFill>
                <a:latin typeface="Segoe UI Semibold"/>
              </a:rPr>
              <a:t>No made-up answers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764024"/>
            <a:ext cx="9692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A"/>
                </a:solidFill>
                <a:latin typeface="Segoe UI"/>
              </a:rPr>
              <a:t>It only shows products that are really in your catalog. It never invents names, prices, or stock.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568696"/>
            <a:ext cx="603504" cy="603504"/>
          </a:xfrm>
          <a:prstGeom prst="roundRect">
            <a:avLst>
              <a:gd name="adj" fmla="val 16000"/>
            </a:avLst>
          </a:prstGeom>
          <a:solidFill>
            <a:srgbClr val="E4ECDB"/>
          </a:solidFill>
          <a:ln w="16510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5568696"/>
            <a:ext cx="603504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1">
                <a:solidFill>
                  <a:srgbClr val="26221E"/>
                </a:solidFill>
                <a:latin typeface="Segoe UI Semibol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5513832"/>
            <a:ext cx="96926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26221E"/>
                </a:solidFill>
                <a:latin typeface="Segoe UI Semibold"/>
              </a:rPr>
              <a:t>Can't be tricked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5934456"/>
            <a:ext cx="9692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A"/>
                </a:solidFill>
                <a:latin typeface="Segoe UI"/>
              </a:rPr>
              <a:t>It won't ignore its rules or reveal its instructions — even if a customer deliberately tries.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B3542E"/>
                </a:solidFill>
                <a:latin typeface="Segoe UI Semibold"/>
              </a:rPr>
              <a:t>SAFE &amp; RELIABLE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26221E"/>
                </a:solidFill>
                <a:latin typeface="Segoe UI Semibold"/>
              </a:rPr>
              <a:t>Built to stay up.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57400"/>
            <a:ext cx="603504" cy="603504"/>
          </a:xfrm>
          <a:prstGeom prst="roundRect">
            <a:avLst>
              <a:gd name="adj" fmla="val 16000"/>
            </a:avLst>
          </a:prstGeom>
          <a:solidFill>
            <a:srgbClr val="E4ECDB"/>
          </a:solidFill>
          <a:ln w="16510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057400"/>
            <a:ext cx="603504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1">
                <a:solidFill>
                  <a:srgbClr val="26221E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002536"/>
            <a:ext cx="96926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26221E"/>
                </a:solidFill>
                <a:latin typeface="Segoe UI Semibold"/>
              </a:rPr>
              <a:t>Keeps working under failure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423160"/>
            <a:ext cx="9692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A"/>
                </a:solidFill>
                <a:latin typeface="Segoe UI"/>
              </a:rPr>
              <a:t>If a safety service has a hiccup, chat still runs. One slow part never takes the page down.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227832"/>
            <a:ext cx="603504" cy="603504"/>
          </a:xfrm>
          <a:prstGeom prst="roundRect">
            <a:avLst>
              <a:gd name="adj" fmla="val 16000"/>
            </a:avLst>
          </a:prstGeom>
          <a:solidFill>
            <a:srgbClr val="E4ECDB"/>
          </a:solidFill>
          <a:ln w="16510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3227832"/>
            <a:ext cx="603504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1">
                <a:solidFill>
                  <a:srgbClr val="26221E"/>
                </a:solidFill>
                <a:latin typeface="Segoe UI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3172968"/>
            <a:ext cx="96926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26221E"/>
                </a:solidFill>
                <a:latin typeface="Segoe UI Semibold"/>
              </a:rPr>
              <a:t>Graceful errors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593592"/>
            <a:ext cx="9692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A"/>
                </a:solidFill>
                <a:latin typeface="Segoe UI"/>
              </a:rPr>
              <a:t>If the assistant itself has a problem, the customer gets a friendly “try again” — never a broken screen or a wrong answer.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398264"/>
            <a:ext cx="603504" cy="603504"/>
          </a:xfrm>
          <a:prstGeom prst="roundRect">
            <a:avLst>
              <a:gd name="adj" fmla="val 16000"/>
            </a:avLst>
          </a:prstGeom>
          <a:solidFill>
            <a:srgbClr val="F0E2DB"/>
          </a:solidFill>
          <a:ln w="16510">
            <a:solidFill>
              <a:srgbClr val="B354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4398264"/>
            <a:ext cx="603504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1">
                <a:solidFill>
                  <a:srgbClr val="26221E"/>
                </a:solidFill>
                <a:latin typeface="Segoe UI Semibol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4343400"/>
            <a:ext cx="96926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26221E"/>
                </a:solidFill>
                <a:latin typeface="Segoe UI Semibold"/>
              </a:rPr>
              <a:t>Every conversation recorded &amp; scored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764024"/>
            <a:ext cx="9692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A"/>
                </a:solidFill>
                <a:latin typeface="Segoe UI"/>
              </a:rPr>
              <a:t>We can replay exactly what happened, and every reply gets an automatic quality score.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568696"/>
            <a:ext cx="603504" cy="603504"/>
          </a:xfrm>
          <a:prstGeom prst="roundRect">
            <a:avLst>
              <a:gd name="adj" fmla="val 16000"/>
            </a:avLst>
          </a:prstGeom>
          <a:solidFill>
            <a:srgbClr val="E4ECDB"/>
          </a:solidFill>
          <a:ln w="16510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5568696"/>
            <a:ext cx="603504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1">
                <a:solidFill>
                  <a:srgbClr val="26221E"/>
                </a:solidFill>
                <a:latin typeface="Segoe UI Semibol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5513832"/>
            <a:ext cx="96926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26221E"/>
                </a:solidFill>
                <a:latin typeface="Segoe UI Semibold"/>
              </a:rPr>
              <a:t>Safe to change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5934456"/>
            <a:ext cx="9692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A"/>
                </a:solidFill>
                <a:latin typeface="Segoe UI"/>
              </a:rPr>
              <a:t>A full automated test suite runs before every update. If anything looks off, we roll back in one step.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B3542E"/>
                </a:solidFill>
                <a:latin typeface="Segoe UI Semibold"/>
              </a:rPr>
              <a:t>WHAT IT COSTS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26221E"/>
                </a:solidFill>
                <a:latin typeface="Segoe UI Semibold"/>
              </a:rPr>
              <a:t>You pay for what's used.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2926080" cy="868680"/>
          </a:xfrm>
          <a:prstGeom prst="roundRect">
            <a:avLst>
              <a:gd name="adj" fmla="val 6000"/>
            </a:avLst>
          </a:prstGeom>
          <a:solidFill>
            <a:srgbClr val="F7F5F2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78408" y="1965960"/>
            <a:ext cx="2523744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03320" y="1965960"/>
            <a:ext cx="256032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904488" y="1965960"/>
            <a:ext cx="2157984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6221E"/>
                </a:solidFill>
                <a:latin typeface="Segoe UI Semibold"/>
              </a:rPr>
              <a:t>Pilot
~1,000 chats / 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965960"/>
            <a:ext cx="256032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64808" y="1965960"/>
            <a:ext cx="2157984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6221E"/>
                </a:solidFill>
                <a:latin typeface="Segoe UI Semibold"/>
              </a:rPr>
              <a:t>Launch
~10,000 chats / mo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965960"/>
            <a:ext cx="256032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025128" y="1965960"/>
            <a:ext cx="2157984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6221E"/>
                </a:solidFill>
                <a:latin typeface="Segoe UI Semibold"/>
              </a:rPr>
              <a:t>Busy
~50,000 chats / mo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834640"/>
            <a:ext cx="2926080" cy="676656"/>
          </a:xfrm>
          <a:prstGeom prst="roundRect">
            <a:avLst>
              <a:gd name="adj" fmla="val 6000"/>
            </a:avLst>
          </a:prstGeom>
          <a:solidFill>
            <a:srgbClr val="F7F5F2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78408" y="2834640"/>
            <a:ext cx="2523744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>
                <a:solidFill>
                  <a:srgbClr val="26221E"/>
                </a:solidFill>
                <a:latin typeface="Segoe UI"/>
              </a:rPr>
              <a:t>AI usage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03320" y="2834640"/>
            <a:ext cx="25603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904488" y="2834640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26221E"/>
                </a:solidFill>
                <a:latin typeface="Segoe UI"/>
              </a:rPr>
              <a:t>~ $1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834640"/>
            <a:ext cx="25603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64808" y="2834640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26221E"/>
                </a:solidFill>
                <a:latin typeface="Segoe UI"/>
              </a:rPr>
              <a:t>~ $5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23960" y="2834640"/>
            <a:ext cx="25603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25128" y="2834640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26221E"/>
                </a:solidFill>
                <a:latin typeface="Segoe UI"/>
              </a:rPr>
              <a:t>~ $25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511296"/>
            <a:ext cx="2926080" cy="676656"/>
          </a:xfrm>
          <a:prstGeom prst="roundRect">
            <a:avLst>
              <a:gd name="adj" fmla="val 6000"/>
            </a:avLst>
          </a:prstGeom>
          <a:solidFill>
            <a:srgbClr val="F7F5F2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78408" y="3511296"/>
            <a:ext cx="2523744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>
                <a:solidFill>
                  <a:srgbClr val="26221E"/>
                </a:solidFill>
                <a:latin typeface="Segoe UI"/>
              </a:rPr>
              <a:t>Extra cloud compute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03320" y="3511296"/>
            <a:ext cx="25603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904488" y="3511296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26221E"/>
                </a:solidFill>
                <a:latin typeface="Segoe UI"/>
              </a:rPr>
              <a:t>&lt; $1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511296"/>
            <a:ext cx="25603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64808" y="3511296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26221E"/>
                </a:solidFill>
                <a:latin typeface="Segoe UI"/>
              </a:rPr>
              <a:t>~ $3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23960" y="3511296"/>
            <a:ext cx="25603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025128" y="3511296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26221E"/>
                </a:solidFill>
                <a:latin typeface="Segoe UI"/>
              </a:rPr>
              <a:t>~ $12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4187952"/>
            <a:ext cx="2926080" cy="676656"/>
          </a:xfrm>
          <a:prstGeom prst="roundRect">
            <a:avLst>
              <a:gd name="adj" fmla="val 6000"/>
            </a:avLst>
          </a:prstGeom>
          <a:solidFill>
            <a:srgbClr val="F7F5F2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78408" y="4187952"/>
            <a:ext cx="2523744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>
                <a:solidFill>
                  <a:srgbClr val="26221E"/>
                </a:solidFill>
                <a:latin typeface="Segoe UI"/>
              </a:rPr>
              <a:t>Monitoring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703320" y="4187952"/>
            <a:ext cx="25603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904488" y="418795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26221E"/>
                </a:solidFill>
                <a:latin typeface="Segoe UI"/>
              </a:rPr>
              <a:t>$0  (free tier)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4187952"/>
            <a:ext cx="25603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64808" y="418795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26221E"/>
                </a:solidFill>
                <a:latin typeface="Segoe UI"/>
              </a:rPr>
              <a:t>$0  (free tier)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23960" y="4187952"/>
            <a:ext cx="256032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025128" y="418795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26221E"/>
                </a:solidFill>
                <a:latin typeface="Segoe UI"/>
              </a:rPr>
              <a:t>$0 – $50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4864608"/>
            <a:ext cx="2926080" cy="676656"/>
          </a:xfrm>
          <a:prstGeom prst="roundRect">
            <a:avLst>
              <a:gd name="adj" fmla="val 6000"/>
            </a:avLst>
          </a:prstGeom>
          <a:solidFill>
            <a:srgbClr val="F7F5F2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78408" y="4864608"/>
            <a:ext cx="2523744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26221E"/>
                </a:solidFill>
                <a:latin typeface="Segoe UI"/>
              </a:rPr>
              <a:t>Total / month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703320" y="4864608"/>
            <a:ext cx="2560320" cy="676656"/>
          </a:xfrm>
          <a:prstGeom prst="roundRect">
            <a:avLst>
              <a:gd name="adj" fmla="val 6000"/>
            </a:avLst>
          </a:prstGeom>
          <a:solidFill>
            <a:srgbClr val="F0E2DB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904488" y="4864608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26221E"/>
                </a:solidFill>
                <a:latin typeface="Segoe UI"/>
              </a:rPr>
              <a:t>under $2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4864608"/>
            <a:ext cx="2560320" cy="676656"/>
          </a:xfrm>
          <a:prstGeom prst="roundRect">
            <a:avLst>
              <a:gd name="adj" fmla="val 6000"/>
            </a:avLst>
          </a:prstGeom>
          <a:solidFill>
            <a:srgbClr val="F0E2DB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64808" y="4864608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26221E"/>
                </a:solidFill>
                <a:latin typeface="Segoe UI"/>
              </a:rPr>
              <a:t>~ $8 – $10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823960" y="4864608"/>
            <a:ext cx="2560320" cy="676656"/>
          </a:xfrm>
          <a:prstGeom prst="roundRect">
            <a:avLst>
              <a:gd name="adj" fmla="val 6000"/>
            </a:avLst>
          </a:prstGeom>
          <a:solidFill>
            <a:srgbClr val="F0E2DB"/>
          </a:solidFill>
          <a:ln w="12700">
            <a:solidFill>
              <a:srgbClr val="E0D9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025128" y="4864608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26221E"/>
                </a:solidFill>
                <a:latin typeface="Segoe UI"/>
              </a:rPr>
              <a:t>~ $40 – $90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729224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dirty="0">
                <a:solidFill>
                  <a:srgbClr val="26221E"/>
                </a:solidFill>
                <a:latin typeface="Segoe UI"/>
              </a:rPr>
              <a:t>The AI layer stays in single-digit dollars until you're handling tens of thousands of conversations a month.  No </a:t>
            </a:r>
            <a:r>
              <a:rPr sz="1350" b="1" dirty="0" err="1">
                <a:solidFill>
                  <a:srgbClr val="26221E"/>
                </a:solidFill>
                <a:latin typeface="Segoe UI"/>
              </a:rPr>
              <a:t>licence</a:t>
            </a:r>
            <a:r>
              <a:rPr sz="1350" b="1" dirty="0">
                <a:solidFill>
                  <a:srgbClr val="26221E"/>
                </a:solidFill>
                <a:latin typeface="Segoe UI"/>
              </a:rPr>
              <a:t> fee.  No minimum.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35508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7A726A"/>
                </a:solidFill>
                <a:latin typeface="Segoe UI"/>
              </a:rPr>
              <a:t>Approx. public rates, Sept 2026. Your existing store hosting and database are unchanged — this is the added cost only.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B3542E"/>
                </a:solidFill>
                <a:latin typeface="Segoe UI Semibold"/>
              </a:rPr>
              <a:t>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96112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26221E"/>
                </a:solidFill>
                <a:latin typeface="Segoe UI Semibold"/>
              </a:rPr>
              <a:t>About six weeks to live.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4114800"/>
            <a:ext cx="10637215" cy="0"/>
          </a:xfrm>
          <a:prstGeom prst="line">
            <a:avLst/>
          </a:prstGeom>
          <a:ln w="17780">
            <a:solidFill>
              <a:srgbClr val="E0D9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77240" y="2514600"/>
            <a:ext cx="3240938" cy="1463040"/>
          </a:xfrm>
          <a:prstGeom prst="roundRect">
            <a:avLst>
              <a:gd name="adj" fmla="val 6000"/>
            </a:avLst>
          </a:prstGeom>
          <a:solidFill>
            <a:srgbClr val="E4ECDB"/>
          </a:solidFill>
          <a:ln w="16510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69848" y="2734056"/>
            <a:ext cx="265572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7A726A"/>
                </a:solidFill>
                <a:latin typeface="Segoe UI"/>
              </a:rPr>
              <a:t>Weeks 1–2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3044952"/>
            <a:ext cx="265572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B3542E"/>
                </a:solidFill>
                <a:latin typeface="Segoe UI Semibold"/>
              </a:rPr>
              <a:t>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3474720"/>
            <a:ext cx="265572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A443E"/>
                </a:solidFill>
                <a:latin typeface="Segoe UI"/>
              </a:rPr>
              <a:t>Discovery inside your store</a:t>
            </a:r>
          </a:p>
        </p:txBody>
      </p:sp>
      <p:sp>
        <p:nvSpPr>
          <p:cNvPr id="10" name="Oval 9"/>
          <p:cNvSpPr/>
          <p:nvPr/>
        </p:nvSpPr>
        <p:spPr>
          <a:xfrm>
            <a:off x="2315413" y="4032504"/>
            <a:ext cx="164592" cy="164592"/>
          </a:xfrm>
          <a:prstGeom prst="ellipse">
            <a:avLst/>
          </a:prstGeom>
          <a:solidFill>
            <a:srgbClr val="4F7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475378" y="2514600"/>
            <a:ext cx="3240938" cy="1463040"/>
          </a:xfrm>
          <a:prstGeom prst="roundRect">
            <a:avLst>
              <a:gd name="adj" fmla="val 6000"/>
            </a:avLst>
          </a:prstGeom>
          <a:solidFill>
            <a:srgbClr val="F0E2DB"/>
          </a:solidFill>
          <a:ln w="16510">
            <a:solidFill>
              <a:srgbClr val="B354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67986" y="2734056"/>
            <a:ext cx="265572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7A726A"/>
                </a:solidFill>
                <a:latin typeface="Segoe UI"/>
              </a:rPr>
              <a:t>Weeks 2–4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7986" y="3044952"/>
            <a:ext cx="265572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B3542E"/>
                </a:solidFill>
                <a:latin typeface="Segoe UI Semibold"/>
              </a:rPr>
              <a:t>PROVE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7986" y="3474720"/>
            <a:ext cx="265572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A443E"/>
                </a:solidFill>
                <a:latin typeface="Segoe UI"/>
              </a:rPr>
              <a:t>Demo on your catalog + your go / no-go</a:t>
            </a:r>
          </a:p>
        </p:txBody>
      </p:sp>
      <p:sp>
        <p:nvSpPr>
          <p:cNvPr id="15" name="Oval 14"/>
          <p:cNvSpPr/>
          <p:nvPr/>
        </p:nvSpPr>
        <p:spPr>
          <a:xfrm>
            <a:off x="6013552" y="4032504"/>
            <a:ext cx="164592" cy="164592"/>
          </a:xfrm>
          <a:prstGeom prst="ellipse">
            <a:avLst/>
          </a:prstGeom>
          <a:solidFill>
            <a:srgbClr val="B35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173517" y="2514600"/>
            <a:ext cx="3240938" cy="1463040"/>
          </a:xfrm>
          <a:prstGeom prst="roundRect">
            <a:avLst>
              <a:gd name="adj" fmla="val 6000"/>
            </a:avLst>
          </a:prstGeom>
          <a:solidFill>
            <a:srgbClr val="E4ECDB"/>
          </a:solidFill>
          <a:ln w="16510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66125" y="2734056"/>
            <a:ext cx="265572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7A726A"/>
                </a:solidFill>
                <a:latin typeface="Segoe UI"/>
              </a:rPr>
              <a:t>Weeks 4–6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6125" y="3044952"/>
            <a:ext cx="265572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B3542E"/>
                </a:solidFill>
                <a:latin typeface="Segoe UI Semibold"/>
              </a:rPr>
              <a:t>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6125" y="3474720"/>
            <a:ext cx="265572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A443E"/>
                </a:solidFill>
                <a:latin typeface="Segoe UI"/>
              </a:rPr>
              <a:t>Integrate, quality checks, launch</a:t>
            </a:r>
          </a:p>
        </p:txBody>
      </p:sp>
      <p:sp>
        <p:nvSpPr>
          <p:cNvPr id="20" name="Oval 19"/>
          <p:cNvSpPr/>
          <p:nvPr/>
        </p:nvSpPr>
        <p:spPr>
          <a:xfrm>
            <a:off x="9711690" y="4032504"/>
            <a:ext cx="164592" cy="164592"/>
          </a:xfrm>
          <a:prstGeom prst="ellipse">
            <a:avLst/>
          </a:prstGeom>
          <a:solidFill>
            <a:srgbClr val="4F7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10607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26221E"/>
                </a:solidFill>
                <a:latin typeface="Segoe UI"/>
              </a:rPr>
              <a:t>The go / no-go decision comes after the demo — before any integration work starts.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dots_b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40080" y="2560320"/>
            <a:ext cx="4937760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2560320"/>
            <a:ext cx="91440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26221E"/>
                </a:solidFill>
                <a:latin typeface="Segoe UI Semibold"/>
              </a:rPr>
              <a:t>Let's build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033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dirty="0">
                <a:solidFill>
                  <a:srgbClr val="7A726A"/>
                </a:solidFill>
                <a:latin typeface="Segoe UI Semibold"/>
              </a:rPr>
              <a:t>LUXE  ·  AI Shopping Assistant — Forward-Deployed Engineering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829</Words>
  <Application>Microsoft Office PowerPoint</Application>
  <PresentationFormat>Widescreen</PresentationFormat>
  <Paragraphs>143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A17 Divesh jadhwani</cp:lastModifiedBy>
  <cp:revision>4</cp:revision>
  <dcterms:created xsi:type="dcterms:W3CDTF">2013-01-27T09:14:16Z</dcterms:created>
  <dcterms:modified xsi:type="dcterms:W3CDTF">2026-09-11T16:25:37Z</dcterms:modified>
  <cp:category/>
</cp:coreProperties>
</file>