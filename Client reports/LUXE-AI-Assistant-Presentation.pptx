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015" y="-640080"/>
            <a:ext cx="49377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011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7A726A"/>
                </a:solidFill>
                <a:latin typeface="Segoe UI Semibold"/>
              </a:rPr>
              <a:t>LUXE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26221E"/>
                </a:solidFill>
                <a:latin typeface="Segoe UI Semibold"/>
              </a:rPr>
              <a:t>An AI Shopping Assistant
for Your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0624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>
                <a:solidFill>
                  <a:srgbClr val="4A443E"/>
                </a:solidFill>
                <a:latin typeface="Segoe UI"/>
              </a:rPr>
              <a:t>Customers ask in plain English. Your catalog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521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 Semibold"/>
              </a:rPr>
              <a:t>Forward-Deployed Engineering   ·   Proposal &amp; Delivery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26221E"/>
                </a:solidFill>
                <a:latin typeface="Segoe UI Semibold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8483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44168" y="2267712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7480" y="1965960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5960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why customers want this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61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44168" y="2944368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80" y="2642616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What we'll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42616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a chat box on every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381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381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44168" y="3621024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97480" y="3319272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319272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four steps, every message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1148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14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44168" y="4297680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97480" y="3995928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How we'll deliver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95928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working software at every stage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7914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9145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44168" y="4974336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97480" y="4672584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Safe &amp; reliable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72584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what keeps it trustworthy and 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46811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681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44168" y="5650992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697480" y="5349240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What it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349240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a realistic monthly bill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61447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778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1447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>
                <a:solidFill>
                  <a:srgbClr val="B3542E"/>
                </a:solidFill>
                <a:latin typeface="Segoe UI Semibold"/>
              </a:rPr>
              <a:t>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44168" y="6327648"/>
            <a:ext cx="1124712" cy="0"/>
          </a:xfrm>
          <a:prstGeom prst="line">
            <a:avLst/>
          </a:prstGeom>
          <a:ln w="1270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97480" y="6025896"/>
            <a:ext cx="5486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>
                <a:solidFill>
                  <a:srgbClr val="26221E"/>
                </a:solidFill>
                <a:latin typeface="Segoe UI Semibold"/>
              </a:rPr>
              <a:t>The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6025896"/>
            <a:ext cx="36576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7A726A"/>
                </a:solidFill>
                <a:latin typeface="Segoe UI"/>
              </a:rPr>
              <a:t>about six weeks to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Finding a product is still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4A443E"/>
                </a:solidFill>
                <a:latin typeface="Segoe UI"/>
              </a:rPr>
              <a:t>Pick a category. Drag a price slider. Scroll. Repeat. Many shoppers give up before they buy.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6616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8862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7A726A"/>
                </a:solidFill>
                <a:latin typeface="Segoe UI Semibold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34840"/>
            <a:ext cx="4434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26221E"/>
                </a:solidFill>
                <a:latin typeface="Segoe UI"/>
              </a:rPr>
              <a:t>Category  →  Price filter  →  Scroll  →  Sort  →  Scroll again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566160"/>
            <a:ext cx="5166360" cy="210312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270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38862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B3542E"/>
                </a:solidFill>
                <a:latin typeface="Segoe UI Semibold"/>
              </a:rPr>
              <a:t>WITH THE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34840"/>
            <a:ext cx="4434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26221E"/>
                </a:solidFill>
                <a:latin typeface="Segoe UI"/>
              </a:rPr>
              <a:t>“men's shirts under ₹2000”
→  the right products, instantly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WHAT WE'LL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A chat box on every page.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500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Ask in your own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8833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7A726A"/>
                </a:solidFill>
                <a:latin typeface="Segoe UI"/>
              </a:rPr>
              <a:t>No filters, no menus. Just type what you're looking for.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930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Real products from your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3133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7A726A"/>
                </a:solidFill>
                <a:latin typeface="Segoe UI"/>
              </a:rPr>
              <a:t>It only shows what's actually in stock — never made-up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3600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57200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Works everywhere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974336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7A726A"/>
                </a:solidFill>
                <a:latin typeface="Segoe UI"/>
              </a:rPr>
              <a:t>Mobile and desktop. Nothing to install.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8308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2103120"/>
            <a:ext cx="2880360" cy="502920"/>
          </a:xfrm>
          <a:prstGeom prst="roundRect">
            <a:avLst>
              <a:gd name="adj" fmla="val 32000"/>
            </a:avLst>
          </a:prstGeom>
          <a:solidFill>
            <a:srgbClr val="262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103120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men's shirts under ₹2000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880360"/>
            <a:ext cx="2880360" cy="804672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0" y="3008376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300837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6221E"/>
                </a:solidFill>
                <a:latin typeface="Segoe UI"/>
              </a:rPr>
              <a:t>Oxford Shirt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33009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26A"/>
                </a:solidFill>
                <a:latin typeface="Segoe UI"/>
              </a:rPr>
              <a:t>₹1,899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840480"/>
            <a:ext cx="2880360" cy="804672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3968496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396849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6221E"/>
                </a:solidFill>
                <a:latin typeface="Segoe UI"/>
              </a:rPr>
              <a:t>Linen Casual Shirt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42611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26A"/>
                </a:solidFill>
                <a:latin typeface="Segoe UI"/>
              </a:rPr>
              <a:t>₹1,499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800600"/>
            <a:ext cx="2880360" cy="804672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4928616"/>
            <a:ext cx="548640" cy="54864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492861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6221E"/>
                </a:solidFill>
                <a:latin typeface="Segoe UI"/>
              </a:rPr>
              <a:t>Cotton Half-Sleeve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8" y="52212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7A726A"/>
                </a:solidFill>
                <a:latin typeface="Segoe UI"/>
              </a:rPr>
              <a:t>₹1,199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Four steps, every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14600"/>
            <a:ext cx="2316404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825496"/>
            <a:ext cx="17311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7A726A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355848"/>
            <a:ext cx="1731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6221E"/>
                </a:solidFill>
                <a:latin typeface="Segoe UI Semibold"/>
              </a:rPr>
              <a:t>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959352"/>
            <a:ext cx="17311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43E"/>
                </a:solidFill>
                <a:latin typeface="Segoe UI"/>
              </a:rPr>
              <a:t>The customer types what they want.</a:t>
            </a:r>
          </a:p>
        </p:txBody>
      </p:sp>
      <p:sp>
        <p:nvSpPr>
          <p:cNvPr id="9" name="Chevron 8"/>
          <p:cNvSpPr/>
          <p:nvPr/>
        </p:nvSpPr>
        <p:spPr>
          <a:xfrm>
            <a:off x="3185084" y="3726180"/>
            <a:ext cx="274320" cy="274320"/>
          </a:xfrm>
          <a:prstGeom prst="chevron">
            <a:avLst/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50844" y="2514600"/>
            <a:ext cx="2316404" cy="2697480"/>
          </a:xfrm>
          <a:prstGeom prst="roundRect">
            <a:avLst>
              <a:gd name="adj" fmla="val 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3452" y="2825496"/>
            <a:ext cx="17311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7A726A"/>
                </a:solidFill>
                <a:latin typeface="Segoe UI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3452" y="3355848"/>
            <a:ext cx="1731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6221E"/>
                </a:solidFill>
                <a:latin typeface="Segoe UI Semibold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3452" y="3959352"/>
            <a:ext cx="17311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43E"/>
                </a:solidFill>
                <a:latin typeface="Segoe UI"/>
              </a:rPr>
              <a:t>We make sure the message is safe and about shopping.</a:t>
            </a:r>
          </a:p>
        </p:txBody>
      </p:sp>
      <p:sp>
        <p:nvSpPr>
          <p:cNvPr id="14" name="Chevron 13"/>
          <p:cNvSpPr/>
          <p:nvPr/>
        </p:nvSpPr>
        <p:spPr>
          <a:xfrm>
            <a:off x="5958688" y="3726180"/>
            <a:ext cx="274320" cy="274320"/>
          </a:xfrm>
          <a:prstGeom prst="chevron">
            <a:avLst/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4448" y="2514600"/>
            <a:ext cx="2316404" cy="269748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651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7056" y="2825496"/>
            <a:ext cx="17311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7A726A"/>
                </a:solidFill>
                <a:latin typeface="Segoe UI Semi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7056" y="3355848"/>
            <a:ext cx="1731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6221E"/>
                </a:solidFill>
                <a:latin typeface="Segoe UI Semibold"/>
              </a:rPr>
              <a:t>Find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7056" y="3959352"/>
            <a:ext cx="17311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43E"/>
                </a:solidFill>
                <a:latin typeface="Segoe UI"/>
              </a:rPr>
              <a:t>The assistant looks up matching products in your catalog.</a:t>
            </a:r>
          </a:p>
        </p:txBody>
      </p:sp>
      <p:sp>
        <p:nvSpPr>
          <p:cNvPr id="19" name="Chevron 18"/>
          <p:cNvSpPr/>
          <p:nvPr/>
        </p:nvSpPr>
        <p:spPr>
          <a:xfrm>
            <a:off x="8732291" y="3726180"/>
            <a:ext cx="274320" cy="274320"/>
          </a:xfrm>
          <a:prstGeom prst="chevron">
            <a:avLst/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98051" y="2514600"/>
            <a:ext cx="2316404" cy="2697480"/>
          </a:xfrm>
          <a:prstGeom prst="roundRect">
            <a:avLst>
              <a:gd name="adj" fmla="val 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659" y="2825496"/>
            <a:ext cx="17311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7A726A"/>
                </a:solidFill>
                <a:latin typeface="Segoe UI Semi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659" y="3355848"/>
            <a:ext cx="1731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6221E"/>
                </a:solidFill>
                <a:latin typeface="Segoe UI Semibold"/>
              </a:rPr>
              <a:t>Check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659" y="3959352"/>
            <a:ext cx="173118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A443E"/>
                </a:solidFill>
                <a:latin typeface="Segoe UI"/>
              </a:rPr>
              <a:t>We review the answer before the customer sees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7A726A"/>
                </a:solidFill>
                <a:latin typeface="Segoe UI"/>
              </a:rPr>
              <a:t>Steps 2 and 4 are automatic safety checks. They add well under a second.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HOW WE'LL DELIVER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You see working software at every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7A726A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56231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B3542E"/>
                </a:solidFill>
                <a:latin typeface="Segoe UI Semibold"/>
              </a:rPr>
              <a:t>SEE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911095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~1–2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19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443E"/>
                </a:solidFill>
                <a:latin typeface="Segoe UI"/>
              </a:rPr>
              <a:t>We work inside your store — learning the catalog, the data and how everything runs. Hands-on, not from a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36391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7A726A"/>
                </a:solidFill>
                <a:latin typeface="Segoe UI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118103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B3542E"/>
                </a:solidFill>
                <a:latin typeface="Segoe UI Semibold"/>
              </a:rPr>
              <a:t>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172967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~1–2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93591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443E"/>
                </a:solidFill>
                <a:latin typeface="Segoe UI"/>
              </a:rPr>
              <a:t>We build a small working demo on your real products. You try it. You decide whether it is worth continuing.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9826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7A726A"/>
                </a:solidFill>
                <a:latin typeface="Segoe UI Semibol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379975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B3542E"/>
                </a:solidFill>
                <a:latin typeface="Segoe UI Semibold"/>
              </a:rPr>
              <a:t>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434839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~2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55463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A443E"/>
                </a:solidFill>
                <a:latin typeface="Segoe UI"/>
              </a:rPr>
              <a:t>We fold the assistant into your live store, add quality checks and go live — with the store untouched.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97295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5"/>
            <a:ext cx="9875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6221E"/>
                </a:solidFill>
                <a:latin typeface="Segoe UI"/>
              </a:rPr>
              <a:t>Nothing is a black box. If the demo doesn't convince you, we stop there — no lock-in.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SAFE &amp;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Built to be 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02536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Two safety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231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One before the assistant reads a message, one before the customer sees the reply. Blocks abuse; keeps it on shopping.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27832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0E2DB"/>
          </a:solidFill>
          <a:ln w="1651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72968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Read-only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9359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The assistant can look at your catalog but can never change prices, remove products, or touch customer or order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98264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43400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No made-up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6402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It only shows products that are really in your catalog. It never invents names, prices, or stock.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8696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68696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513832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Can't be tricked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9344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It won't ignore its rules or reveal its instructions — even if a customer deliberately 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SAFE &amp; 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Built to stay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02536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Keeps working under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42316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If a safety service has a hiccup, chat still runs. One slow part never takes the page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27832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172968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Graceful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93592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If the assistant itself has a problem, the customer gets a friendly “try again” — never a broken screen or a wrong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98264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F0E2DB"/>
          </a:solidFill>
          <a:ln w="1651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4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43400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Every conversation recorded &amp; scored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64024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We can replay exactly what happened, and every reply gets an automatic quality 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8696"/>
            <a:ext cx="603504" cy="603504"/>
          </a:xfrm>
          <a:prstGeom prst="roundRect">
            <a:avLst>
              <a:gd name="adj" fmla="val 1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68696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513832"/>
            <a:ext cx="9692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26221E"/>
                </a:solidFill>
                <a:latin typeface="Segoe UI Semibold"/>
              </a:rPr>
              <a:t>Safe to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934456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7A726A"/>
                </a:solidFill>
                <a:latin typeface="Segoe UI"/>
              </a:rPr>
              <a:t>A full automated test suite runs before every update. If anything looks off, we roll back in one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You pay for what's used.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926080" cy="868680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65960"/>
            <a:ext cx="2523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6221E"/>
                </a:solidFill>
                <a:latin typeface="Segoe UI Semibold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96596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965960"/>
            <a:ext cx="215798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6221E"/>
                </a:solidFill>
                <a:latin typeface="Segoe UI Semibold"/>
              </a:rPr>
              <a:t>Pilot
~1,000 chats / 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965960"/>
            <a:ext cx="215798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6221E"/>
                </a:solidFill>
                <a:latin typeface="Segoe UI Semibold"/>
              </a:rPr>
              <a:t>Launch
~10,000 chats / 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96596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1965960"/>
            <a:ext cx="215798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6221E"/>
                </a:solidFill>
                <a:latin typeface="Segoe UI Semibold"/>
              </a:rPr>
              <a:t>Busy
~50,000 chats / 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34640"/>
            <a:ext cx="2926080" cy="676656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834640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6221E"/>
                </a:solidFill>
                <a:latin typeface="Segoe UI"/>
              </a:rPr>
              <a:t>AI usage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834640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834640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~ $1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834640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~ $5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834640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2834640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~ $25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11296"/>
            <a:ext cx="2926080" cy="676656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3511296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6221E"/>
                </a:solidFill>
                <a:latin typeface="Segoe UI"/>
              </a:rPr>
              <a:t>Extra cloud compute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511296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5112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&lt; $1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511296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5112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~ $3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511296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3511296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~ $12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87952"/>
            <a:ext cx="2926080" cy="676656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187952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6221E"/>
                </a:solidFill>
                <a:latin typeface="Segoe UI"/>
              </a:rPr>
              <a:t>Monitoring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187952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04488" y="4187952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$0  (free tier)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187952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187952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$0  (free tier)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23960" y="4187952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4187952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6221E"/>
                </a:solidFill>
                <a:latin typeface="Segoe UI"/>
              </a:rPr>
              <a:t>$0 – $50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864608"/>
            <a:ext cx="2926080" cy="676656"/>
          </a:xfrm>
          <a:prstGeom prst="roundRect">
            <a:avLst>
              <a:gd name="adj" fmla="val 6000"/>
            </a:avLst>
          </a:prstGeom>
          <a:solidFill>
            <a:srgbClr val="F7F5F2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4864608"/>
            <a:ext cx="252374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6221E"/>
                </a:solidFill>
                <a:latin typeface="Segoe UI"/>
              </a:rPr>
              <a:t>Total / month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3320" y="4864608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04488" y="4864608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6221E"/>
                </a:solidFill>
                <a:latin typeface="Segoe UI"/>
              </a:rPr>
              <a:t>under $2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864608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8" y="4864608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6221E"/>
                </a:solidFill>
                <a:latin typeface="Segoe UI"/>
              </a:rPr>
              <a:t>~ $8 – $10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3960" y="4864608"/>
            <a:ext cx="2560320" cy="676656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2700">
            <a:solidFill>
              <a:srgbClr val="E0D9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4864608"/>
            <a:ext cx="2157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6221E"/>
                </a:solidFill>
                <a:latin typeface="Segoe UI"/>
              </a:rPr>
              <a:t>~ $40 – $90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07024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26221E"/>
                </a:solidFill>
                <a:latin typeface="Segoe UI"/>
              </a:rPr>
              <a:t>The AI layer stays in single-digit dollars until you're handling tens of thousands of conversations a month.  No licence fee.  No minimum.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7A726A"/>
                </a:solidFill>
                <a:latin typeface="Segoe UI"/>
              </a:rPr>
              <a:t>Approx. public rates, Sept 2026. Your existing store hosting and database are unchanged — this is the added cost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B3542E"/>
                </a:solidFill>
                <a:latin typeface="Segoe UI Semibold"/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6221E"/>
                </a:solidFill>
                <a:latin typeface="Segoe UI Semibold"/>
              </a:rPr>
              <a:t>About six weeks to live.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4114800"/>
            <a:ext cx="10637215" cy="0"/>
          </a:xfrm>
          <a:prstGeom prst="line">
            <a:avLst/>
          </a:prstGeom>
          <a:ln w="17780">
            <a:solidFill>
              <a:srgbClr val="E0D9C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2514600"/>
            <a:ext cx="3240938" cy="1463040"/>
          </a:xfrm>
          <a:prstGeom prst="roundRect">
            <a:avLst>
              <a:gd name="adj" fmla="val 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734056"/>
            <a:ext cx="265572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Weeks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044952"/>
            <a:ext cx="26557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B3542E"/>
                </a:solidFill>
                <a:latin typeface="Segoe UI Semibold"/>
              </a:rPr>
              <a:t>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74720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A443E"/>
                </a:solidFill>
                <a:latin typeface="Segoe UI"/>
              </a:rPr>
              <a:t>Discovery inside your store</a:t>
            </a:r>
          </a:p>
        </p:txBody>
      </p:sp>
      <p:sp>
        <p:nvSpPr>
          <p:cNvPr id="10" name="Oval 9"/>
          <p:cNvSpPr/>
          <p:nvPr/>
        </p:nvSpPr>
        <p:spPr>
          <a:xfrm>
            <a:off x="2315413" y="4032504"/>
            <a:ext cx="164592" cy="164592"/>
          </a:xfrm>
          <a:prstGeom prst="ellipse">
            <a:avLst/>
          </a:prstGeom>
          <a:solidFill>
            <a:srgbClr val="4F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5378" y="2514600"/>
            <a:ext cx="3240938" cy="1463040"/>
          </a:xfrm>
          <a:prstGeom prst="roundRect">
            <a:avLst>
              <a:gd name="adj" fmla="val 6000"/>
            </a:avLst>
          </a:prstGeom>
          <a:solidFill>
            <a:srgbClr val="F0E2DB"/>
          </a:solidFill>
          <a:ln w="16510">
            <a:solidFill>
              <a:srgbClr val="B35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7986" y="2734056"/>
            <a:ext cx="265572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Weeks 2–4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7986" y="3044952"/>
            <a:ext cx="26557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B3542E"/>
                </a:solidFill>
                <a:latin typeface="Segoe UI Semibold"/>
              </a:rPr>
              <a:t>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7986" y="3474720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A443E"/>
                </a:solidFill>
                <a:latin typeface="Segoe UI"/>
              </a:rPr>
              <a:t>Demo on your catalog + your go / no-go</a:t>
            </a:r>
          </a:p>
        </p:txBody>
      </p:sp>
      <p:sp>
        <p:nvSpPr>
          <p:cNvPr id="15" name="Oval 14"/>
          <p:cNvSpPr/>
          <p:nvPr/>
        </p:nvSpPr>
        <p:spPr>
          <a:xfrm>
            <a:off x="6013552" y="4032504"/>
            <a:ext cx="164592" cy="164592"/>
          </a:xfrm>
          <a:prstGeom prst="ellipse">
            <a:avLst/>
          </a:prstGeom>
          <a:solidFill>
            <a:srgbClr val="B3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3517" y="2514600"/>
            <a:ext cx="3240938" cy="1463040"/>
          </a:xfrm>
          <a:prstGeom prst="roundRect">
            <a:avLst>
              <a:gd name="adj" fmla="val 6000"/>
            </a:avLst>
          </a:prstGeom>
          <a:solidFill>
            <a:srgbClr val="E4ECDB"/>
          </a:solidFill>
          <a:ln w="16510">
            <a:solidFill>
              <a:srgbClr val="4F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6125" y="2734056"/>
            <a:ext cx="265572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7A726A"/>
                </a:solidFill>
                <a:latin typeface="Segoe UI"/>
              </a:rPr>
              <a:t>Weeks 4–6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6125" y="3044952"/>
            <a:ext cx="265572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B3542E"/>
                </a:solidFill>
                <a:latin typeface="Segoe UI Semibold"/>
              </a:rP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6125" y="3474720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4A443E"/>
                </a:solidFill>
                <a:latin typeface="Segoe UI"/>
              </a:rPr>
              <a:t>Integrate, quality checks, launch</a:t>
            </a:r>
          </a:p>
        </p:txBody>
      </p:sp>
      <p:sp>
        <p:nvSpPr>
          <p:cNvPr id="20" name="Oval 19"/>
          <p:cNvSpPr/>
          <p:nvPr/>
        </p:nvSpPr>
        <p:spPr>
          <a:xfrm>
            <a:off x="9711690" y="4032504"/>
            <a:ext cx="164592" cy="164592"/>
          </a:xfrm>
          <a:prstGeom prst="ellipse">
            <a:avLst/>
          </a:prstGeom>
          <a:solidFill>
            <a:srgbClr val="4F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6221E"/>
                </a:solidFill>
                <a:latin typeface="Segoe UI"/>
              </a:rPr>
              <a:t>The go / no-go decision comes after the demo — before any integration work starts.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ts_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0080" y="2560320"/>
            <a:ext cx="493776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256032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26221E"/>
                </a:solidFill>
                <a:latin typeface="Segoe UI Semibold"/>
              </a:rPr>
              <a:t>Let's build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7A726A"/>
                </a:solidFill>
                <a:latin typeface="Segoe UI Semibold"/>
              </a:rPr>
              <a:t>LUXE  ·  AI Shopping Assistant — Forward-Deployed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